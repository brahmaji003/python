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91" r:id="rId3"/>
    <p:sldId id="257" r:id="rId4"/>
    <p:sldId id="289" r:id="rId5"/>
    <p:sldId id="292" r:id="rId6"/>
    <p:sldId id="295" r:id="rId7"/>
    <p:sldId id="300" r:id="rId8"/>
    <p:sldId id="302" r:id="rId9"/>
    <p:sldId id="303" r:id="rId10"/>
    <p:sldId id="304" r:id="rId11"/>
    <p:sldId id="306" r:id="rId12"/>
    <p:sldId id="307" r:id="rId13"/>
    <p:sldId id="305" r:id="rId14"/>
    <p:sldId id="283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560919E-F687-4A92-826C-34987BE2D30F}" v="61" dt="2026-08-31T07:33:17.80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84" d="100"/>
          <a:sy n="84" d="100"/>
        </p:scale>
        <p:origin x="61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A3FFC4-A2AB-491C-8153-490E73CAF22F}" type="datetimeFigureOut">
              <a:rPr lang="en-IN" smtClean="0"/>
              <a:t>31-08-2026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35A81C-E999-49A1-802E-5918E13F1B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07858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35A81C-E999-49A1-802E-5918E13F1B69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57039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35A81C-E999-49A1-802E-5918E13F1B69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78377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334164-1996-49BF-2AF9-AB5FF8E23A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913085-021A-D7D3-442A-93D1854649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FA86C9-D3B8-758B-66BF-3AC3C228B1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72BFDE-5404-434C-8CD0-00711E718E77}" type="datetimeFigureOut">
              <a:rPr lang="en-IN" smtClean="0"/>
              <a:t>31-08-2026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4DE77F-0B5E-2E2B-680F-CD8EAE839B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577E4D-EA54-237C-8A1E-DF2C2D72F0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2790B-EC45-4C23-A019-6AC66F4F90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60665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BDB669-2BFF-61E1-D9F6-A7B2CA1747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CED357-5A00-CEA7-E09A-60C204E4B0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D217F1-91A5-05BA-589A-C5C53C616B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72BFDE-5404-434C-8CD0-00711E718E77}" type="datetimeFigureOut">
              <a:rPr lang="en-IN" smtClean="0"/>
              <a:t>31-08-2026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54D45D-360A-0139-24A4-B0E032953F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C89190-8CEC-870E-8582-77C3FC33AE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2790B-EC45-4C23-A019-6AC66F4F90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05415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8F969B-17E3-B046-D95A-58FC72238F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EB0106-0892-4915-EBB0-E21D08EB85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9AB8E7-3597-91EC-E377-7137605A7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72BFDE-5404-434C-8CD0-00711E718E77}" type="datetimeFigureOut">
              <a:rPr lang="en-IN" smtClean="0"/>
              <a:t>31-08-2026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C36CBD-C379-2268-2C3F-F7FE26C27C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B4E481-41FB-0559-6E69-257B311828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2790B-EC45-4C23-A019-6AC66F4F90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93566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F891E4-9B21-11B9-12A0-C9AFC34AC1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2E1634-9357-4E68-99A1-6CDED025A0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C6A173-1881-EB3F-D994-17FEF4F0E7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BCE211-CDA2-F9F5-F0AF-25153A6F84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72BFDE-5404-434C-8CD0-00711E718E77}" type="datetimeFigureOut">
              <a:rPr lang="en-IN" smtClean="0"/>
              <a:t>31-08-2026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7E1458-D9E1-B64C-34A2-815A009020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4BF18F-BAB5-48A0-036A-DCCCF1714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2790B-EC45-4C23-A019-6AC66F4F90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2563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79716C-DF60-E124-05CD-CBFD9319CA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1C48D6-D5CC-7F3C-9B41-1E66D712CE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577E35-3707-EF5D-85AA-1578FEBA05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092F85-98EA-8937-AD7E-3BAA57AA467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C9284E-2FCA-6CDA-CA23-2D47611B6C4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E624D85-1D36-F43B-89A3-B27310FFCD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72BFDE-5404-434C-8CD0-00711E718E77}" type="datetimeFigureOut">
              <a:rPr lang="en-IN" smtClean="0"/>
              <a:t>31-08-2026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EA3CF43-3112-EF97-5655-2CE8172F9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F5ABCCD-B6DD-757C-A165-F8680D4883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2790B-EC45-4C23-A019-6AC66F4F90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9660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61E081-783F-752C-9F89-18BB374345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1B6B6D8-70DD-48F6-8C0E-F6E6AF50C3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72BFDE-5404-434C-8CD0-00711E718E77}" type="datetimeFigureOut">
              <a:rPr lang="en-IN" smtClean="0"/>
              <a:t>31-08-2026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307BB8-9557-EC58-D7D6-CE63BE66DA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D9C521-7495-5646-BB7F-CF86CEEC4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2790B-EC45-4C23-A019-6AC66F4F90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99733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50B818D-D8D2-C33A-7E38-E489B1E55D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72BFDE-5404-434C-8CD0-00711E718E77}" type="datetimeFigureOut">
              <a:rPr lang="en-IN" smtClean="0"/>
              <a:t>31-08-2026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001230C-F463-FB3C-8FEF-405503BC09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D7E646-1364-EACA-69B9-5C878EB14B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2790B-EC45-4C23-A019-6AC66F4F90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1701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D85E5C-153F-D37B-A5E5-D55BEBDC1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2A35FB-8144-D46F-9C8F-3139622189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A9A92A-6386-AD33-ACCC-23FBD6E552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D316AD-25C8-D10C-36A4-BE70B34C2D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72BFDE-5404-434C-8CD0-00711E718E77}" type="datetimeFigureOut">
              <a:rPr lang="en-IN" smtClean="0"/>
              <a:t>31-08-2026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538FBB-4862-7740-126A-DD3CBBCF19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254F0B-4405-A2A4-4B73-118D6C6C3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2790B-EC45-4C23-A019-6AC66F4F90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3180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F824ED-BF04-8CEA-A47A-C6F551B3DC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4B1E8A0-33FD-17CC-5A51-3565324C82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BA71DE-1862-9DBA-F3D7-4F5569CB55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449186-119D-6132-997C-FA18038B3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72BFDE-5404-434C-8CD0-00711E718E77}" type="datetimeFigureOut">
              <a:rPr lang="en-IN" smtClean="0"/>
              <a:t>31-08-2026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A11E92-ED70-38B8-3FC2-7DC014671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067E67-65A7-5066-0FA6-32A1119E06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2790B-EC45-4C23-A019-6AC66F4F90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5752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C97D8A-6E41-BE6E-DED4-910E57E207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CAD5BF-6F2E-45AC-0463-92DCB69CBE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AD6890-1A77-2EB7-37A3-3A0AE777C1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72BFDE-5404-434C-8CD0-00711E718E77}" type="datetimeFigureOut">
              <a:rPr lang="en-IN" smtClean="0"/>
              <a:t>31-08-2026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F434CF-2F22-CEFA-E473-2FAF023B42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F9DC63-32BA-BB56-889D-9FE2B3910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2790B-EC45-4C23-A019-6AC66F4F90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81566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CE9CE30-911B-BAA1-7076-B4BA7285A7B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B59B1A-24AE-B7BF-2FFC-6CA560A86E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982124-C491-347E-1847-FCC74311C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72BFDE-5404-434C-8CD0-00711E718E77}" type="datetimeFigureOut">
              <a:rPr lang="en-IN" smtClean="0"/>
              <a:t>31-08-2026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F62532-0550-A6CE-4A53-76771E1DEB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493EBF-6956-0CFD-47D5-001F372573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2790B-EC45-4C23-A019-6AC66F4F90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78522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8838C37-84A0-F9CF-93C9-03B15A824A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535614-94F8-66D8-2302-BDA92D330E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5E088D-B3D3-6B39-907A-C4C161FA66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72BFDE-5404-434C-8CD0-00711E718E77}" type="datetimeFigureOut">
              <a:rPr lang="en-IN" smtClean="0"/>
              <a:t>31-08-2026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712B06-B95A-579D-BC2D-A68B5F9C4C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0D4FA8-D198-9D34-69F7-50652AB3F1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62790B-EC45-4C23-A019-6AC66F4F90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59676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03C746-498C-5D6C-CCE1-CD2268A578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651" y="85133"/>
            <a:ext cx="11524976" cy="2872866"/>
          </a:xfrm>
        </p:spPr>
        <p:txBody>
          <a:bodyPr>
            <a:noAutofit/>
          </a:bodyPr>
          <a:lstStyle/>
          <a:p>
            <a:b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CSA0810-PYTHON PROGRAMMING</a:t>
            </a:r>
            <a:b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36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3600" b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CE84B9-CD18-C191-D807-046C58511C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99139" y="4348711"/>
            <a:ext cx="5641509" cy="1655762"/>
          </a:xfrm>
        </p:spPr>
        <p:txBody>
          <a:bodyPr>
            <a:normAutofit/>
          </a:bodyPr>
          <a:lstStyle/>
          <a:p>
            <a:pPr algn="l"/>
            <a:r>
              <a:rPr lang="en-US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 :</a:t>
            </a:r>
          </a:p>
          <a:p>
            <a:pPr algn="l"/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T. Narasimha Reddy(192425190)</a:t>
            </a:r>
          </a:p>
          <a:p>
            <a:pPr algn="l"/>
            <a:endParaRPr lang="en-US" b="1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E7DB13A-3DDD-DC30-1FD6-730C05E9D9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928" y="132821"/>
            <a:ext cx="1133475" cy="13430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31135C1-96EF-C208-AA7A-CDD0DF874F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88072" y="257175"/>
            <a:ext cx="1524000" cy="134302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6B8201F-174D-0AF3-F97E-D82CF0F26291}"/>
              </a:ext>
            </a:extLst>
          </p:cNvPr>
          <p:cNvSpPr txBox="1"/>
          <p:nvPr/>
        </p:nvSpPr>
        <p:spPr>
          <a:xfrm>
            <a:off x="554057" y="4440151"/>
            <a:ext cx="430053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Guided By</a:t>
            </a:r>
          </a:p>
          <a:p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Dr.J.Prabaharan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3A64B82-9349-5D70-9E86-97F13E53155A}"/>
              </a:ext>
            </a:extLst>
          </p:cNvPr>
          <p:cNvSpPr txBox="1"/>
          <p:nvPr/>
        </p:nvSpPr>
        <p:spPr>
          <a:xfrm>
            <a:off x="1114288" y="2389854"/>
            <a:ext cx="1071548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Automated Social Media Sentiment Normalization Tool with CLI, Textual Histogram &amp; SQL Integration</a:t>
            </a:r>
          </a:p>
          <a:p>
            <a:pPr algn="ctr"/>
            <a:endParaRPr lang="en-IN" sz="2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6307B5A-B5EE-E026-A60F-D6F83E03B4A8}"/>
              </a:ext>
            </a:extLst>
          </p:cNvPr>
          <p:cNvSpPr txBox="1"/>
          <p:nvPr/>
        </p:nvSpPr>
        <p:spPr>
          <a:xfrm>
            <a:off x="5799139" y="5068194"/>
            <a:ext cx="471205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K.Bramhaji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(192425249)</a:t>
            </a:r>
          </a:p>
          <a:p>
            <a:r>
              <a:rPr lang="en-I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K.Harshetha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(192572009)</a:t>
            </a:r>
          </a:p>
        </p:txBody>
      </p:sp>
    </p:spTree>
    <p:extLst>
      <p:ext uri="{BB962C8B-B14F-4D97-AF65-F5344CB8AC3E}">
        <p14:creationId xmlns:p14="http://schemas.microsoft.com/office/powerpoint/2010/main" val="35187883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B8004A-D207-4ADE-F3B1-1FD3FEBDB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5307" y="161203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1F2076B-91D9-7453-5DDE-D76C2F9B28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96538" y="230188"/>
            <a:ext cx="1524000" cy="13430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9BF93F5-3ACA-6F03-6213-C2EF4E664F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" y="230188"/>
            <a:ext cx="1133475" cy="1343025"/>
          </a:xfrm>
          <a:prstGeom prst="rect">
            <a:avLst/>
          </a:prstGeom>
        </p:spPr>
      </p:pic>
      <p:sp>
        <p:nvSpPr>
          <p:cNvPr id="7" name="Rectangle 1">
            <a:extLst>
              <a:ext uri="{FF2B5EF4-FFF2-40B4-BE49-F238E27FC236}">
                <a16:creationId xmlns:a16="http://schemas.microsoft.com/office/drawing/2014/main" id="{ACE5C738-1A38-F9E1-4965-B3B109F4925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45307" y="1043433"/>
            <a:ext cx="10835640" cy="60378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lnSpc>
                <a:spcPct val="150000"/>
              </a:lnSpc>
              <a:buNone/>
            </a:pP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Automates the analysis of sentiment in social media text.</a:t>
            </a:r>
          </a:p>
          <a:p>
            <a:pPr lvl="0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Normalizes text to improve data quality and consistency.</a:t>
            </a:r>
          </a:p>
          <a:p>
            <a:pPr lvl="0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Classifies content into positive, negative, and neutral sentiments.</a:t>
            </a:r>
          </a:p>
          <a:p>
            <a:pPr lvl="0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command-line execution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simple and efficient operation.</a:t>
            </a:r>
          </a:p>
          <a:p>
            <a:pPr lvl="0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Generates a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textual histogram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show sentiment distribution.</a:t>
            </a:r>
          </a:p>
          <a:p>
            <a:pPr lvl="0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 integration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storing and managing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analyzed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data.</a:t>
            </a:r>
          </a:p>
          <a:p>
            <a:pPr lvl="0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a fast, reliable, and user-friendly sentiment analysis solution.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06346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2993B9-7629-906D-33CA-8DF82F337D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4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A7F0A09-F61C-C4A3-87A0-9D3184355F6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00211" y="1182224"/>
            <a:ext cx="10957221" cy="54997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IN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automated tool designed to 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normalize sentiment from social media text.</a:t>
            </a:r>
          </a:p>
          <a:p>
            <a:pPr lvl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processes textual data and identifies positive, negative, and neutral sentiments.</a:t>
            </a:r>
          </a:p>
          <a:p>
            <a:pPr lvl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tool uses command-line execution for simple and efficient user interaction.</a:t>
            </a:r>
          </a:p>
          <a:p>
            <a:pPr lvl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 normalization improves the quality and consistency of social media data.</a:t>
            </a:r>
          </a:p>
          <a:p>
            <a:pPr lvl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textual histogram visually represents sentiment distribution in a simple format.</a:t>
            </a:r>
          </a:p>
          <a:p>
            <a:pPr lvl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 integration enables efficient storage, retrieval, and management of 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analyzed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data.</a:t>
            </a:r>
          </a:p>
          <a:p>
            <a:pPr lvl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provides a fast, reliable, and user-friendly solution for sentiment analysis.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D98E2E2-03C3-13B2-3BA9-56CAEB20B4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5533" y="215901"/>
            <a:ext cx="1524000" cy="134302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DDFFFBC-91F5-5C1B-5108-910D4C1E7B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467" y="150020"/>
            <a:ext cx="1133475" cy="1343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33149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2E6930-85B8-BDCA-414F-3F93033BED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53B671A-F10A-89F7-CADA-346CB9AEE1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96538" y="230188"/>
            <a:ext cx="1524000" cy="13430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503A6EF-9BE7-5D3D-5586-8B55300FF4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462" y="107420"/>
            <a:ext cx="1133475" cy="134302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9736B8B-4006-4B49-23D8-C95FC5113674}"/>
              </a:ext>
            </a:extLst>
          </p:cNvPr>
          <p:cNvSpPr txBox="1"/>
          <p:nvPr/>
        </p:nvSpPr>
        <p:spPr>
          <a:xfrm>
            <a:off x="568452" y="909892"/>
            <a:ext cx="11055096" cy="61255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IN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Social media generates a large amount of unstructured textual data every day.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Raw social media text often contains slang, symbols, spelling variations, and unnecessary words.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sentiment analysis is time-consuming and difficult for large datasets.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a need to automatically classify text into positive, negative, and neutral sentiments.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analysis methods may not provide a simple visual representation of sentiment distribution.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Managing and retrieving 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analyzed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sentiment data efficiently requires database integration.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Therefore, an automated tool is needed to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normalize, </a:t>
            </a:r>
            <a:r>
              <a:rPr lang="en-IN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visualize, and store social media sentiment data efficiently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02718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7EDDAE0-A3B3-9E58-DB3E-6436F7FD15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93154" y="0"/>
            <a:ext cx="1524000" cy="13430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E003228-2766-B26F-D7E2-13FCAA28F2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46" y="20786"/>
            <a:ext cx="1133475" cy="134302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784D162-97B5-08B7-C0D7-93A5A95BE58A}"/>
              </a:ext>
            </a:extLst>
          </p:cNvPr>
          <p:cNvSpPr txBox="1"/>
          <p:nvPr/>
        </p:nvSpPr>
        <p:spPr>
          <a:xfrm>
            <a:off x="1370542" y="230188"/>
            <a:ext cx="889817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ea typeface="DM Serif Display"/>
                <a:cs typeface="Times New Roman" panose="02020603050405020304" pitchFamily="18" charset="0"/>
                <a:sym typeface="DM Serif Display"/>
              </a:rPr>
              <a:t>LITERATURE REVIEW</a:t>
            </a:r>
            <a:endParaRPr lang="en-IN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4" name="Content Placeholder 13">
            <a:extLst>
              <a:ext uri="{FF2B5EF4-FFF2-40B4-BE49-F238E27FC236}">
                <a16:creationId xmlns:a16="http://schemas.microsoft.com/office/drawing/2014/main" id="{2FF58A7C-9232-213E-89C7-AFA52660DBF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76656562"/>
              </p:ext>
            </p:extLst>
          </p:nvPr>
        </p:nvGraphicFramePr>
        <p:xfrm>
          <a:off x="842019" y="1343025"/>
          <a:ext cx="10513135" cy="5380560"/>
        </p:xfrm>
        <a:graphic>
          <a:graphicData uri="http://schemas.openxmlformats.org/drawingml/2006/table">
            <a:tbl>
              <a:tblPr>
                <a:tableStyleId>{69CF1AB2-1976-4502-BF36-3FF5EA218861}</a:tableStyleId>
              </a:tblPr>
              <a:tblGrid>
                <a:gridCol w="2102627">
                  <a:extLst>
                    <a:ext uri="{9D8B030D-6E8A-4147-A177-3AD203B41FA5}">
                      <a16:colId xmlns:a16="http://schemas.microsoft.com/office/drawing/2014/main" val="2547868244"/>
                    </a:ext>
                  </a:extLst>
                </a:gridCol>
                <a:gridCol w="2102627">
                  <a:extLst>
                    <a:ext uri="{9D8B030D-6E8A-4147-A177-3AD203B41FA5}">
                      <a16:colId xmlns:a16="http://schemas.microsoft.com/office/drawing/2014/main" val="705754920"/>
                    </a:ext>
                  </a:extLst>
                </a:gridCol>
                <a:gridCol w="2102627">
                  <a:extLst>
                    <a:ext uri="{9D8B030D-6E8A-4147-A177-3AD203B41FA5}">
                      <a16:colId xmlns:a16="http://schemas.microsoft.com/office/drawing/2014/main" val="3544565421"/>
                    </a:ext>
                  </a:extLst>
                </a:gridCol>
                <a:gridCol w="2102627">
                  <a:extLst>
                    <a:ext uri="{9D8B030D-6E8A-4147-A177-3AD203B41FA5}">
                      <a16:colId xmlns:a16="http://schemas.microsoft.com/office/drawing/2014/main" val="576362778"/>
                    </a:ext>
                  </a:extLst>
                </a:gridCol>
                <a:gridCol w="2102627">
                  <a:extLst>
                    <a:ext uri="{9D8B030D-6E8A-4147-A177-3AD203B41FA5}">
                      <a16:colId xmlns:a16="http://schemas.microsoft.com/office/drawing/2014/main" val="2764252811"/>
                    </a:ext>
                  </a:extLst>
                </a:gridCol>
              </a:tblGrid>
              <a:tr h="3053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S.No</a:t>
                      </a:r>
                      <a:endParaRPr lang="en-IN" sz="19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339" marR="76339" marT="38170" marB="3817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9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</a:t>
                      </a:r>
                      <a:endParaRPr lang="en-IN" sz="19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339" marR="76339" marT="38170" marB="3817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Area / Study</a:t>
                      </a:r>
                      <a:endParaRPr lang="en-IN" sz="19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339" marR="76339" marT="38170" marB="3817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 Findings</a:t>
                      </a:r>
                      <a:endParaRPr lang="en-IN" sz="19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339" marR="76339" marT="38170" marB="3817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 / Gap</a:t>
                      </a:r>
                      <a:endParaRPr lang="en-IN" sz="19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339" marR="76339" marT="38170" marB="38170" anchor="ctr"/>
                </a:tc>
                <a:extLst>
                  <a:ext uri="{0D108BD9-81ED-4DB2-BD59-A6C34878D82A}">
                    <a16:rowId xmlns:a16="http://schemas.microsoft.com/office/drawing/2014/main" val="2777184621"/>
                  </a:ext>
                </a:extLst>
              </a:tr>
              <a:tr h="7633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76339" marR="76339" marT="38170" marB="3817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</a:t>
                      </a:r>
                    </a:p>
                  </a:txBody>
                  <a:tcPr marL="76339" marR="76339" marT="38170" marB="3817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Sentiment Analysis</a:t>
                      </a:r>
                    </a:p>
                  </a:txBody>
                  <a:tcPr marL="76339" marR="76339" marT="38170" marB="3817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Identifies positive, negative, and neutral opinions.</a:t>
                      </a:r>
                    </a:p>
                  </a:txBody>
                  <a:tcPr marL="76339" marR="76339" marT="38170" marB="3817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Depends on text quality.</a:t>
                      </a:r>
                    </a:p>
                  </a:txBody>
                  <a:tcPr marL="76339" marR="76339" marT="38170" marB="38170" anchor="ctr"/>
                </a:tc>
                <a:extLst>
                  <a:ext uri="{0D108BD9-81ED-4DB2-BD59-A6C34878D82A}">
                    <a16:rowId xmlns:a16="http://schemas.microsoft.com/office/drawing/2014/main" val="2224627849"/>
                  </a:ext>
                </a:extLst>
              </a:tr>
              <a:tr h="7633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76339" marR="76339" marT="38170" marB="3817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2025</a:t>
                      </a:r>
                    </a:p>
                  </a:txBody>
                  <a:tcPr marL="76339" marR="76339" marT="38170" marB="3817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Text Normalization</a:t>
                      </a:r>
                    </a:p>
                  </a:txBody>
                  <a:tcPr marL="76339" marR="76339" marT="38170" marB="3817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Removes noise, slang, symbols, and unnecessary words.</a:t>
                      </a:r>
                    </a:p>
                  </a:txBody>
                  <a:tcPr marL="76339" marR="76339" marT="38170" marB="3817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Social media language is challenging.</a:t>
                      </a:r>
                    </a:p>
                  </a:txBody>
                  <a:tcPr marL="76339" marR="76339" marT="38170" marB="38170" anchor="ctr"/>
                </a:tc>
                <a:extLst>
                  <a:ext uri="{0D108BD9-81ED-4DB2-BD59-A6C34878D82A}">
                    <a16:rowId xmlns:a16="http://schemas.microsoft.com/office/drawing/2014/main" val="3403316117"/>
                  </a:ext>
                </a:extLst>
              </a:tr>
              <a:tr h="7633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76339" marR="76339" marT="38170" marB="3817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2022</a:t>
                      </a:r>
                    </a:p>
                  </a:txBody>
                  <a:tcPr marL="76339" marR="76339" marT="38170" marB="3817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Machine Learning</a:t>
                      </a:r>
                    </a:p>
                  </a:txBody>
                  <a:tcPr marL="76339" marR="76339" marT="38170" marB="3817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Supports automatic sentiment classification.</a:t>
                      </a:r>
                    </a:p>
                  </a:txBody>
                  <a:tcPr marL="76339" marR="76339" marT="38170" marB="3817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Requires suitable training data.</a:t>
                      </a:r>
                    </a:p>
                  </a:txBody>
                  <a:tcPr marL="76339" marR="76339" marT="38170" marB="38170" anchor="ctr"/>
                </a:tc>
                <a:extLst>
                  <a:ext uri="{0D108BD9-81ED-4DB2-BD59-A6C34878D82A}">
                    <a16:rowId xmlns:a16="http://schemas.microsoft.com/office/drawing/2014/main" val="3685576903"/>
                  </a:ext>
                </a:extLst>
              </a:tr>
              <a:tr h="7633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76339" marR="76339" marT="38170" marB="3817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9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2023</a:t>
                      </a:r>
                    </a:p>
                  </a:txBody>
                  <a:tcPr marL="76339" marR="76339" marT="38170" marB="3817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Social Media Analysis</a:t>
                      </a:r>
                    </a:p>
                  </a:txBody>
                  <a:tcPr marL="76339" marR="76339" marT="38170" marB="3817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Helps understand public opinions and trends.</a:t>
                      </a:r>
                    </a:p>
                  </a:txBody>
                  <a:tcPr marL="76339" marR="76339" marT="38170" marB="3817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Large datasets are difficult to process.</a:t>
                      </a:r>
                    </a:p>
                  </a:txBody>
                  <a:tcPr marL="76339" marR="76339" marT="38170" marB="38170" anchor="ctr"/>
                </a:tc>
                <a:extLst>
                  <a:ext uri="{0D108BD9-81ED-4DB2-BD59-A6C34878D82A}">
                    <a16:rowId xmlns:a16="http://schemas.microsoft.com/office/drawing/2014/main" val="372379799"/>
                  </a:ext>
                </a:extLst>
              </a:tr>
              <a:tr h="9924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76339" marR="76339" marT="38170" marB="3817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9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</a:t>
                      </a:r>
                    </a:p>
                  </a:txBody>
                  <a:tcPr marL="76339" marR="76339" marT="38170" marB="3817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SQL &amp; Visualization</a:t>
                      </a:r>
                    </a:p>
                  </a:txBody>
                  <a:tcPr marL="76339" marR="76339" marT="38170" marB="3817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Stores results and displays sentiment distribution effectively.</a:t>
                      </a:r>
                    </a:p>
                  </a:txBody>
                  <a:tcPr marL="76339" marR="76339" marT="38170" marB="3817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Requires proper database management.</a:t>
                      </a:r>
                    </a:p>
                  </a:txBody>
                  <a:tcPr marL="76339" marR="76339" marT="38170" marB="38170" anchor="ctr"/>
                </a:tc>
                <a:extLst>
                  <a:ext uri="{0D108BD9-81ED-4DB2-BD59-A6C34878D82A}">
                    <a16:rowId xmlns:a16="http://schemas.microsoft.com/office/drawing/2014/main" val="11189622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451852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47A79C-B184-DDF5-DCA0-0A35CA640E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7C05D-351A-1B3A-7899-E397BC3823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7693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3400" b="1" dirty="0">
                <a:solidFill>
                  <a:srgbClr val="FF0000"/>
                </a:solidFill>
                <a:latin typeface="Times New Roman" panose="02020603050405020304" pitchFamily="18" charset="0"/>
                <a:ea typeface="DM Serif Display"/>
                <a:cs typeface="Times New Roman" panose="02020603050405020304" pitchFamily="18" charset="0"/>
                <a:sym typeface="DM Serif Display"/>
              </a:rPr>
              <a:t>OBJECTIVES</a:t>
            </a:r>
            <a:endParaRPr lang="en-IN" sz="3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AA0C6C2-00B1-DE2D-7088-9824BCAE7C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96538" y="166687"/>
            <a:ext cx="1524000" cy="13430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9EE4022-1B08-F7FF-7994-F0D160BBDD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462" y="166686"/>
            <a:ext cx="1133475" cy="134302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991DAC8-B908-2E94-F3B8-9D994543061B}"/>
              </a:ext>
            </a:extLst>
          </p:cNvPr>
          <p:cNvSpPr txBox="1"/>
          <p:nvPr/>
        </p:nvSpPr>
        <p:spPr>
          <a:xfrm>
            <a:off x="508826" y="1834262"/>
            <a:ext cx="11515534" cy="44579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an automated system for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social media sentiment analysis and text normalization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clean and preprocess text by removing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noise, symbols, and unnecessary words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classify social media content into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positive, negative, and neutral sentiments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provide a simple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command-line interface (CLI)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efficient execution.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generate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textual histograms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easy visualization of sentiment distribution.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use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 integration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storing and retrieving sentiment analysis results efficiently.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95492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122346-0FEA-F60B-2558-4DCFED2E91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1EEAF1-B6A7-1407-FBF4-2F4FF9FA2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1462" y="114572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400" b="1" dirty="0">
                <a:solidFill>
                  <a:srgbClr val="FF0000"/>
                </a:solidFill>
                <a:latin typeface="Times New Roman" panose="02020603050405020304" pitchFamily="18" charset="0"/>
                <a:ea typeface="DM Serif Display"/>
                <a:cs typeface="Times New Roman" panose="02020603050405020304" pitchFamily="18" charset="0"/>
                <a:sym typeface="DM Serif Display"/>
              </a:rPr>
              <a:t>SYSTEM ARCHITECTURE </a:t>
            </a:r>
            <a:endParaRPr lang="en-IN" sz="3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81B7618-E4AC-05D0-9A88-81EB80FA14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96538" y="166687"/>
            <a:ext cx="1524000" cy="13430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6B403CF-CD00-A90E-16F5-5A8A2A95AF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462" y="166686"/>
            <a:ext cx="1133475" cy="1343025"/>
          </a:xfrm>
          <a:prstGeom prst="rect">
            <a:avLst/>
          </a:prstGeom>
        </p:spPr>
      </p:pic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2EF3002E-DD08-A708-1A32-0CC043BC476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722376" y="1509711"/>
            <a:ext cx="10515600" cy="5334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86215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53A11B-FDAD-D74D-A950-716B9F9A0A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1609" y="21348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2900" b="1" dirty="0">
                <a:solidFill>
                  <a:srgbClr val="FF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 </a:t>
            </a:r>
            <a:r>
              <a:rPr lang="en-US" sz="2900" b="1" dirty="0">
                <a:solidFill>
                  <a:srgbClr val="FF0000"/>
                </a:solidFill>
                <a:latin typeface="Times New Roman" panose="02020603050405020304" pitchFamily="18" charset="0"/>
                <a:ea typeface="DM Serif Display"/>
                <a:cs typeface="Times New Roman" panose="02020603050405020304" pitchFamily="18" charset="0"/>
                <a:sym typeface="DM Serif Display"/>
              </a:rPr>
              <a:t>Module 1: Social Media Text Acquisition and Normalization</a:t>
            </a:r>
            <a:br>
              <a:rPr lang="en-US" sz="2900" b="1" dirty="0">
                <a:solidFill>
                  <a:srgbClr val="FF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</a:br>
            <a:endParaRPr lang="en-IN" sz="29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CB38FB-C830-CE9D-BDA0-65A792DF77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910" y="1539051"/>
            <a:ext cx="8448866" cy="2609215"/>
          </a:xfrm>
        </p:spPr>
        <p:txBody>
          <a:bodyPr>
            <a:noAutofit/>
          </a:bodyPr>
          <a:lstStyle/>
          <a:p>
            <a:pPr lvl="0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Collects social media text from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command-line input, text files, or sample datasets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Converts the collected text into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lowercase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maintain uniformity during analysis.</a:t>
            </a:r>
          </a:p>
          <a:p>
            <a:pPr lvl="0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Removes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URLs, user mentions, hashtags, and other unwanted elements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from the text.</a:t>
            </a:r>
          </a:p>
          <a:p>
            <a:pPr lvl="0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Eliminates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special characters, emojis, and unnecessary symbols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reduce text noise.</a:t>
            </a:r>
          </a:p>
          <a:p>
            <a:pPr lvl="0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Removes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 spaces and formatting inconsistencies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from the collected content.</a:t>
            </a:r>
          </a:p>
          <a:p>
            <a:pPr lvl="0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Generates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 and normalized text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is ready for sentiment classification.</a:t>
            </a:r>
          </a:p>
          <a:p>
            <a:pPr lvl="0">
              <a:lnSpc>
                <a:spcPct val="100000"/>
              </a:lnSpc>
              <a:buFont typeface="Wingdings" panose="05000000000000000000" pitchFamily="2" charset="2"/>
              <a:buChar char="Ø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D9ED56A-9812-48BF-BB4C-A00DA6F5BB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2090" y="180914"/>
            <a:ext cx="1524000" cy="13430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988A6F7-17EA-0B45-EB2A-7A2A7D0726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10" y="64727"/>
            <a:ext cx="1133475" cy="13430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0DC0382-6444-BA30-7C48-BA0EB64F399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77466" y="1751820"/>
            <a:ext cx="3349752" cy="4786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40453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7CDE3B-A787-54CB-9088-E4286A1FB8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4690" y="500062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2900" b="1" dirty="0">
                <a:solidFill>
                  <a:srgbClr val="FF0000"/>
                </a:solidFill>
                <a:latin typeface="Times New Roman" panose="02020603050405020304" pitchFamily="18" charset="0"/>
                <a:ea typeface="DM Serif Display"/>
                <a:cs typeface="Times New Roman" panose="02020603050405020304" pitchFamily="18" charset="0"/>
                <a:sym typeface="DM Serif Display"/>
              </a:rPr>
              <a:t>Module 2: Sentiment Analysis and Textual Histogram Generation</a:t>
            </a:r>
            <a:br>
              <a:rPr lang="en-US" sz="2900" b="1" dirty="0">
                <a:solidFill>
                  <a:srgbClr val="FF0000"/>
                </a:solidFill>
                <a:latin typeface="Times New Roman" panose="02020603050405020304" pitchFamily="18" charset="0"/>
                <a:ea typeface="DM Serif Display"/>
                <a:cs typeface="Times New Roman" panose="02020603050405020304" pitchFamily="18" charset="0"/>
                <a:sym typeface="DM Serif Display"/>
              </a:rPr>
            </a:br>
            <a:endParaRPr lang="en-IN" sz="29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51328F-B572-7E39-FAFC-C8DEBC378A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6992" y="1706753"/>
            <a:ext cx="7638288" cy="4351338"/>
          </a:xfrm>
        </p:spPr>
        <p:txBody>
          <a:bodyPr>
            <a:normAutofit fontScale="92500"/>
          </a:bodyPr>
          <a:lstStyle/>
          <a:p>
            <a:pPr lvl="0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normalized text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identify its overall sentiment.</a:t>
            </a:r>
          </a:p>
          <a:p>
            <a:pPr lvl="0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Classifies each text into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Positive, Negative, or Neutral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categories.</a:t>
            </a:r>
          </a:p>
          <a:p>
            <a:pPr lvl="0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Assigns a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sentiment label and score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based on the analysis.</a:t>
            </a:r>
          </a:p>
          <a:p>
            <a:pPr lvl="0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Counts the number of texts belonging to each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sentiment category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Generates a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textual histogram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symbols to represent sentiment distribution.</a:t>
            </a:r>
          </a:p>
          <a:p>
            <a:pPr lvl="0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the sentiment results clearly for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interpretation and comparison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655DA3B-F69C-5569-DB46-DE3175D3E9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396" y="178476"/>
            <a:ext cx="848294" cy="100512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FB81632-7AAF-A7E6-AACE-4DDE8E5440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01984" y="268643"/>
            <a:ext cx="935926" cy="82478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4F7DF02-D0CE-AA57-9470-599D680C709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3840" y="1613630"/>
            <a:ext cx="4011168" cy="4744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24526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58003D-DF9B-CEDE-CFC8-52D841DCBA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801" y="500062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3400" b="1" dirty="0">
                <a:solidFill>
                  <a:srgbClr val="FF0000"/>
                </a:solidFill>
                <a:latin typeface="Times New Roman" panose="02020603050405020304" pitchFamily="18" charset="0"/>
                <a:ea typeface="DM Serif Display"/>
                <a:cs typeface="Times New Roman" panose="02020603050405020304" pitchFamily="18" charset="0"/>
                <a:sym typeface="DM Serif Display"/>
              </a:rPr>
              <a:t>Module 3: SQL Integration and Result Management</a:t>
            </a:r>
            <a:br>
              <a:rPr lang="en-US" sz="3400" b="1" dirty="0">
                <a:solidFill>
                  <a:srgbClr val="FF0000"/>
                </a:solidFill>
                <a:latin typeface="Times New Roman" panose="02020603050405020304" pitchFamily="18" charset="0"/>
                <a:ea typeface="DM Serif Display"/>
                <a:cs typeface="Times New Roman" panose="02020603050405020304" pitchFamily="18" charset="0"/>
                <a:sym typeface="DM Serif Display"/>
              </a:rPr>
            </a:br>
            <a:endParaRPr lang="en-IN" sz="3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701025-34E2-8902-C61E-3687764405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9456" y="1825625"/>
            <a:ext cx="8769096" cy="4351338"/>
          </a:xfrm>
        </p:spPr>
        <p:txBody>
          <a:bodyPr>
            <a:normAutofit fontScale="77500" lnSpcReduction="20000"/>
          </a:bodyPr>
          <a:lstStyle/>
          <a:p>
            <a:pPr lvl="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 the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sentiment analysis results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an SQL database for organized data management.</a:t>
            </a:r>
          </a:p>
          <a:p>
            <a:pPr lvl="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Creates structured tables to maintain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text, sentiment labels, and sentiment scores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SQL queries to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insert, retrieve, update, and manage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sentiment records.</a:t>
            </a:r>
          </a:p>
          <a:p>
            <a:pPr lvl="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quick retrieval of stored results for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 and reporting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Maintains sentiment data in a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structured and reliable format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efficient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 management and database integration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the complete system</a:t>
            </a:r>
            <a:r>
              <a:rPr lang="en-IN" dirty="0"/>
              <a:t>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Ø"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C1E1E9A-EEA5-FFF8-E6A5-D2EE12E179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3015"/>
            <a:ext cx="1133475" cy="13430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B748813-32F7-32A9-252C-44D6C28092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47832" y="83014"/>
            <a:ext cx="1344168" cy="134302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E388DF0-5F44-7D43-24CA-AECF37A2105B}"/>
              </a:ext>
            </a:extLst>
          </p:cNvPr>
          <p:cNvSpPr txBox="1"/>
          <p:nvPr/>
        </p:nvSpPr>
        <p:spPr>
          <a:xfrm>
            <a:off x="-70104" y="5757773"/>
            <a:ext cx="979017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Generates summarized reports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from stored sentiment data for easy review and future analysis.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D7BFCE3-EE0B-848F-F181-383A8BF75B9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14816" y="2157984"/>
            <a:ext cx="3236976" cy="3489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15592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0AE3F3-B1D8-09E4-63C6-343D90DB20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			</a:t>
            </a:r>
            <a:r>
              <a:rPr lang="en-US" sz="3400" b="1" dirty="0">
                <a:solidFill>
                  <a:srgbClr val="FF0000"/>
                </a:solidFill>
                <a:latin typeface="Times New Roman" panose="02020603050405020304" pitchFamily="18" charset="0"/>
                <a:ea typeface="DM Serif Display"/>
                <a:cs typeface="Times New Roman" panose="02020603050405020304" pitchFamily="18" charset="0"/>
                <a:sym typeface="DM Serif Display"/>
              </a:rPr>
              <a:t>FUTURE SCOPE</a:t>
            </a:r>
            <a:endParaRPr lang="en-IN" sz="3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C38761-EF0E-F186-1A1E-34F9765D3A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6737" y="1926209"/>
            <a:ext cx="10515600" cy="4351338"/>
          </a:xfrm>
        </p:spPr>
        <p:txBody>
          <a:bodyPr>
            <a:normAutofit fontScale="92500"/>
          </a:bodyPr>
          <a:lstStyle/>
          <a:p>
            <a:pPr lvl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Analysis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live social media posts for instant sentiment results.</a:t>
            </a:r>
          </a:p>
          <a:p>
            <a:pPr lvl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AI Models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Use machine learning and deep learning for better accuracy.</a:t>
            </a:r>
          </a:p>
          <a:p>
            <a:pPr lvl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Multilingual Support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Extend the system to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multiple languages.</a:t>
            </a:r>
          </a:p>
          <a:p>
            <a:pPr lvl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Emotion Detection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Detect emotions such as happiness, anger, sadness, and fear.</a:t>
            </a:r>
          </a:p>
          <a:p>
            <a:pPr lvl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Dashboard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Provide graphical dashboards for easy visualization of sentiment trends.</a:t>
            </a:r>
          </a:p>
          <a:p>
            <a:pPr lvl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Large-Scale Processing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Support large volumes of social media data efficiently.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7358F39-326E-2AEC-8BC7-EAEAE9B400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116" y="129604"/>
            <a:ext cx="1133475" cy="13430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19A24E7-C28E-90B9-B4FF-22A48F0442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1716" y="230188"/>
            <a:ext cx="1344168" cy="1343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67107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AD1584-754C-0293-7FA7-86D709268E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				</a:t>
            </a:r>
            <a:r>
              <a:rPr lang="en-IN" sz="3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F9CC08-F71F-A600-1B4B-0FA134E637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2141537"/>
            <a:ext cx="10515600" cy="4351338"/>
          </a:xfrm>
        </p:spPr>
        <p:txBody>
          <a:bodyPr>
            <a:normAutofit fontScale="85000" lnSpcReduction="20000"/>
          </a:bodyPr>
          <a:lstStyle/>
          <a:p>
            <a:pPr lvl="0"/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Jurafsky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D., &amp; Martin, J. H. –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Speech and Language Processing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Natural Language Processing concepts.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Liu, B. –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Sentiment Analysis and Opinion Mining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Morgan &amp; Claypool Publishers.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Bird, S., Klein, E., &amp; Loper, E. –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Natural Language Processing with Python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O’Reilly Media.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Pang, B., Lee, L., &amp; Vaithyanathan, S. –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Thumbs Up? Sentiment Classification Using Machine Learning Techniques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Manning, C. D., Raghavan, P., &amp; Schütze, H. –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Information Retrieval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Cambridge University Press.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Documentation – Text processing, command-line programming, and data handling.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SQLite Documentation – SQL database storage, queries, and result management.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1A09F02-FAA7-32B1-DDA8-3C233CF692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878" y="347663"/>
            <a:ext cx="1133475" cy="13430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EC4D89A-377E-AE97-7689-59813CB32C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1716" y="230188"/>
            <a:ext cx="1344168" cy="1343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03852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D1A009-FB0D-B9AB-9B92-E729FD479B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400" b="1" dirty="0">
                <a:solidFill>
                  <a:srgbClr val="FF0000"/>
                </a:solidFill>
                <a:latin typeface="Times New Roman" panose="02020603050405020304" pitchFamily="18" charset="0"/>
                <a:ea typeface="DM Serif Display"/>
                <a:cs typeface="Times New Roman" panose="02020603050405020304" pitchFamily="18" charset="0"/>
                <a:sym typeface="DM Serif Display"/>
              </a:rPr>
              <a:t>				CONCLUSION</a:t>
            </a:r>
            <a:endParaRPr lang="en-IN" sz="3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61DEBC-92EF-EF56-7BC7-7EA08121FF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2314" y="1708150"/>
            <a:ext cx="11396472" cy="4351338"/>
          </a:xfrm>
        </p:spPr>
        <p:txBody>
          <a:bodyPr>
            <a:noAutofit/>
          </a:bodyPr>
          <a:lstStyle/>
          <a:p>
            <a:pPr lvl="0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provides an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approach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analyzing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social media sentiment.</a:t>
            </a:r>
          </a:p>
          <a:p>
            <a:pPr lvl="0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 normalization improves the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quality and consistency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the input data.</a:t>
            </a:r>
          </a:p>
          <a:p>
            <a:pPr lvl="0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Sentiment classification identifies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positive, negative, and neutral opinions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effectively.</a:t>
            </a:r>
          </a:p>
          <a:p>
            <a:pPr lvl="0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textual histogram provides a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 and clear representation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sentiment distribution.</a:t>
            </a:r>
          </a:p>
          <a:p>
            <a:pPr lvl="0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 integration enables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organized storage and efficient management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analysis results.</a:t>
            </a:r>
          </a:p>
          <a:p>
            <a:pPr lvl="0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command-line interface makes the system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simple, fast, and user-friendly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can be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extended for real-time analysis and larger social media datasets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future applications.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13DF173-19FE-B435-B548-3234E556A9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590" y="230188"/>
            <a:ext cx="1133475" cy="13430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340E5BD-DD1D-8FA6-97D6-8B940722E9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96538" y="166687"/>
            <a:ext cx="1524000" cy="1343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89570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E806228-86C0-3B7E-68EB-E326115B42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462" y="141287"/>
            <a:ext cx="1133475" cy="13430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E12D782-C13D-8773-89D2-9AC1D702BA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96538" y="16933"/>
            <a:ext cx="1524000" cy="1343025"/>
          </a:xfrm>
          <a:prstGeom prst="rect">
            <a:avLst/>
          </a:prstGeom>
        </p:spPr>
      </p:pic>
      <p:pic>
        <p:nvPicPr>
          <p:cNvPr id="2050" name="Picture 2" descr="Nature-PowerPoint-Presentation-Template-Thankyou - SlideBazaar">
            <a:extLst>
              <a:ext uri="{FF2B5EF4-FFF2-40B4-BE49-F238E27FC236}">
                <a16:creationId xmlns:a16="http://schemas.microsoft.com/office/drawing/2014/main" id="{A1B724B6-0F9A-BA7B-9A3C-7298A35CCC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944472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662</TotalTime>
  <Words>1100</Words>
  <Application>Microsoft Office PowerPoint</Application>
  <PresentationFormat>Widescreen</PresentationFormat>
  <Paragraphs>121</Paragraphs>
  <Slides>14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Aptos</vt:lpstr>
      <vt:lpstr>Arial</vt:lpstr>
      <vt:lpstr>Calibri</vt:lpstr>
      <vt:lpstr>Calibri Light</vt:lpstr>
      <vt:lpstr>DM Serif Display</vt:lpstr>
      <vt:lpstr>Times New Roman</vt:lpstr>
      <vt:lpstr>Wingdings</vt:lpstr>
      <vt:lpstr>Office Theme</vt:lpstr>
      <vt:lpstr>   CSA0810-PYTHON PROGRAMMING  </vt:lpstr>
      <vt:lpstr>ABSTRACT</vt:lpstr>
      <vt:lpstr>INTRODUCTION</vt:lpstr>
      <vt:lpstr>PROBLEM STATEMENT</vt:lpstr>
      <vt:lpstr>PowerPoint Presentation</vt:lpstr>
      <vt:lpstr>OBJECTIVES</vt:lpstr>
      <vt:lpstr> SYSTEM ARCHITECTURE </vt:lpstr>
      <vt:lpstr> Module 1: Social Media Text Acquisition and Normalization </vt:lpstr>
      <vt:lpstr>Module 2: Sentiment Analysis and Textual Histogram Generation </vt:lpstr>
      <vt:lpstr>Module 3: SQL Integration and Result Management </vt:lpstr>
      <vt:lpstr>   FUTURE SCOPE</vt:lpstr>
      <vt:lpstr>    REFERENCES</vt:lpstr>
      <vt:lpstr>    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Shaik Asif</dc:creator>
  <cp:lastModifiedBy>Narasimha Reddy Thatigotla</cp:lastModifiedBy>
  <cp:revision>7</cp:revision>
  <dcterms:created xsi:type="dcterms:W3CDTF">2025-09-10T15:43:15Z</dcterms:created>
  <dcterms:modified xsi:type="dcterms:W3CDTF">2026-08-31T07:43:07Z</dcterms:modified>
</cp:coreProperties>
</file>